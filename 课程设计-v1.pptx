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1224" r:id="rId3"/>
    <p:sldId id="1208" r:id="rId4"/>
    <p:sldId id="1220" r:id="rId5"/>
    <p:sldId id="1222" r:id="rId6"/>
    <p:sldId id="1210" r:id="rId7"/>
    <p:sldId id="1221" r:id="rId8"/>
    <p:sldId id="1212" r:id="rId9"/>
    <p:sldId id="1223" r:id="rId10"/>
    <p:sldId id="1219" r:id="rId11"/>
    <p:sldId id="1216" r:id="rId12"/>
    <p:sldId id="1217" r:id="rId13"/>
    <p:sldId id="512" r:id="rId14"/>
    <p:sldId id="121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5" autoAdjust="0"/>
    <p:restoredTop sz="94659"/>
  </p:normalViewPr>
  <p:slideViewPr>
    <p:cSldViewPr snapToGrid="0">
      <p:cViewPr varScale="1">
        <p:scale>
          <a:sx n="110" d="100"/>
          <a:sy n="110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C409D-3AF8-4014-B0DF-7BA3C46EDA36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8AA45-EB3B-48EA-B343-05C4A6060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970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8AA45-EB3B-48EA-B343-05C4A6060E1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3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40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562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02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48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700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06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86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690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64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97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805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42729-A850-44C8-9797-DA82A8914852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C005F-DD6E-4F2C-8398-FEF0E65A9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998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ogle-research/sa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ple/ml-cvnet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Vlabs/stylega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ongzelian/SS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机器学习与深度学习</a:t>
            </a:r>
            <a:r>
              <a:rPr lang="en-US" altLang="zh-CN" dirty="0"/>
              <a:t>》</a:t>
            </a:r>
            <a:br>
              <a:rPr lang="en-US" altLang="zh-CN" dirty="0"/>
            </a:br>
            <a:r>
              <a:rPr lang="en-US" altLang="zh-CN" dirty="0"/>
              <a:t>                    </a:t>
            </a:r>
            <a:endParaRPr lang="zh-CN" altLang="en-US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0541163E-3A51-4201-88CE-6B1C88765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课程设计</a:t>
            </a:r>
          </a:p>
        </p:txBody>
      </p:sp>
    </p:spTree>
    <p:extLst>
      <p:ext uri="{BB962C8B-B14F-4D97-AF65-F5344CB8AC3E}">
        <p14:creationId xmlns:p14="http://schemas.microsoft.com/office/powerpoint/2010/main" val="609355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课程设计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38200" y="1630459"/>
            <a:ext cx="10043211" cy="462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04788" indent="-204788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lang="en-US" altLang="zh-CN" sz="2800" kern="1200">
                <a:solidFill>
                  <a:schemeClr val="accent2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410766" indent="-204788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616744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822722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0" fontAlgn="base" hangingPunct="0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四个指定课题或自选课题</a:t>
            </a:r>
            <a:endParaRPr lang="en-US" altLang="zh-CN" dirty="0">
              <a:solidFill>
                <a:schemeClr val="tx1"/>
              </a:solidFill>
            </a:endParaRPr>
          </a:p>
          <a:p>
            <a:pPr lvl="2">
              <a:buClrTx/>
              <a:buFont typeface="Wingdings" panose="05000000000000000000" pitchFamily="2" charset="2"/>
              <a:buChar char="ü"/>
            </a:pPr>
            <a:endParaRPr lang="en-US" altLang="zh-CN" dirty="0">
              <a:latin typeface="+mn-ea"/>
              <a:ea typeface="+mn-ea"/>
            </a:endParaRPr>
          </a:p>
          <a:p>
            <a:pPr marL="204788" lvl="2" indent="-204788">
              <a:spcBef>
                <a:spcPts val="450"/>
              </a:spcBef>
              <a:buClrTx/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+mn-ea"/>
                <a:ea typeface="+mn-ea"/>
                <a:cs typeface="Arial" panose="020B0604020202020204" pitchFamily="34" charset="0"/>
              </a:rPr>
              <a:t> 目标：了解深层学习前沿，充分发挥自学能力，锻炼思考，动手和写作表达能力</a:t>
            </a:r>
            <a:endParaRPr lang="en-US" altLang="zh-CN" sz="2800" dirty="0">
              <a:latin typeface="+mn-ea"/>
              <a:ea typeface="+mn-ea"/>
              <a:cs typeface="Arial" panose="020B0604020202020204" pitchFamily="34" charset="0"/>
            </a:endParaRPr>
          </a:p>
          <a:p>
            <a:pPr marL="204788" lvl="2" indent="-204788">
              <a:spcBef>
                <a:spcPts val="450"/>
              </a:spcBef>
              <a:buClrTx/>
              <a:buFont typeface="Wingdings" panose="05000000000000000000" pitchFamily="2" charset="2"/>
              <a:buChar char="p"/>
            </a:pPr>
            <a:endParaRPr lang="en-US" altLang="zh-CN" sz="2800" dirty="0">
              <a:latin typeface="+mn-ea"/>
              <a:ea typeface="+mn-ea"/>
              <a:cs typeface="Arial" panose="020B0604020202020204" pitchFamily="34" charset="0"/>
            </a:endParaRPr>
          </a:p>
          <a:p>
            <a:pPr marL="0" lvl="2" indent="0">
              <a:spcBef>
                <a:spcPts val="450"/>
              </a:spcBef>
              <a:buClrTx/>
              <a:buNone/>
            </a:pPr>
            <a:endParaRPr lang="en-US" altLang="zh-CN" sz="28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24A6DB-E0B5-F318-FFEF-1E1208720661}"/>
              </a:ext>
            </a:extLst>
          </p:cNvPr>
          <p:cNvSpPr txBox="1"/>
          <p:nvPr/>
        </p:nvSpPr>
        <p:spPr>
          <a:xfrm>
            <a:off x="3478031" y="5134021"/>
            <a:ext cx="5914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严禁一切抄袭行为！！！！</a:t>
            </a:r>
          </a:p>
        </p:txBody>
      </p:sp>
    </p:spTree>
    <p:extLst>
      <p:ext uri="{BB962C8B-B14F-4D97-AF65-F5344CB8AC3E}">
        <p14:creationId xmlns:p14="http://schemas.microsoft.com/office/powerpoint/2010/main" val="19541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课程设计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38200" y="1690689"/>
            <a:ext cx="10358775" cy="462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04788" indent="-204788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lang="en-US" altLang="zh-CN" sz="2800" kern="1200">
                <a:solidFill>
                  <a:schemeClr val="accent2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410766" indent="-204788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616744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822722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0" fontAlgn="base" hangingPunct="0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基本要求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选题建议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作业要求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作业提交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900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基本要求 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38200" y="1690689"/>
            <a:ext cx="10358775" cy="462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04788" indent="-204788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lang="en-US" altLang="zh-CN" sz="2800" kern="1200">
                <a:solidFill>
                  <a:schemeClr val="accent2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410766" indent="-204788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616744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822722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0" fontAlgn="base" hangingPunct="0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Tx/>
              <a:buFont typeface="Wingdings" panose="05000000000000000000" pitchFamily="2" charset="2"/>
              <a:buChar char="p"/>
            </a:pPr>
            <a:r>
              <a:rPr lang="zh-CN" altLang="en-US" sz="3200" dirty="0">
                <a:solidFill>
                  <a:schemeClr val="tx1"/>
                </a:solidFill>
              </a:rPr>
              <a:t>提交内容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lvl="3">
              <a:buClrTx/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</a:rPr>
              <a:t>实验代码</a:t>
            </a:r>
            <a:endParaRPr lang="en-US" altLang="zh-CN" sz="260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3">
              <a:buClrTx/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</a:rPr>
              <a:t>课题报告</a:t>
            </a:r>
            <a:endParaRPr lang="en-US" altLang="zh-CN" sz="2600" dirty="0"/>
          </a:p>
          <a:p>
            <a:pPr marL="205978" lvl="1" indent="0">
              <a:buClrTx/>
              <a:buNone/>
            </a:pPr>
            <a:endParaRPr lang="en-US" altLang="zh-CN" sz="3200" dirty="0">
              <a:solidFill>
                <a:schemeClr val="tx1"/>
              </a:solidFill>
            </a:endParaRPr>
          </a:p>
          <a:p>
            <a:pPr lvl="1">
              <a:buClrTx/>
              <a:buFont typeface="Wingdings" panose="05000000000000000000" pitchFamily="2" charset="2"/>
              <a:buChar char="p"/>
            </a:pPr>
            <a:r>
              <a:rPr lang="zh-CN" altLang="en-US" sz="3200" dirty="0">
                <a:solidFill>
                  <a:schemeClr val="tx1"/>
                </a:solidFill>
              </a:rPr>
              <a:t>独立完成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205978" lvl="1" indent="0">
              <a:buClrTx/>
              <a:buNone/>
            </a:pPr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667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选题建议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38200" y="1690688"/>
            <a:ext cx="10358775" cy="462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04788" indent="-204788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lang="en-US" altLang="zh-CN" sz="2800" kern="1200">
                <a:solidFill>
                  <a:schemeClr val="accent2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410766" indent="-204788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616744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822722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0" fontAlgn="base" hangingPunct="0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指定课题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新型优化算法的实现与分析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卷积神经网络与</a:t>
            </a:r>
            <a:r>
              <a:rPr lang="en-US" altLang="zh-CN" dirty="0">
                <a:solidFill>
                  <a:schemeClr val="tx1"/>
                </a:solidFill>
              </a:rPr>
              <a:t>ViT</a:t>
            </a:r>
            <a:r>
              <a:rPr lang="zh-CN" altLang="en-US" dirty="0">
                <a:solidFill>
                  <a:schemeClr val="tx1"/>
                </a:solidFill>
              </a:rPr>
              <a:t>结合的探索与实现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基于</a:t>
            </a:r>
            <a:r>
              <a:rPr lang="en-US" altLang="zh-CN" dirty="0">
                <a:solidFill>
                  <a:schemeClr val="tx1"/>
                </a:solidFill>
              </a:rPr>
              <a:t>StyleGAN</a:t>
            </a:r>
            <a:r>
              <a:rPr lang="zh-CN" altLang="en-US" dirty="0">
                <a:solidFill>
                  <a:schemeClr val="tx1"/>
                </a:solidFill>
              </a:rPr>
              <a:t>的图像生成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模型微调技术探索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自选课题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8989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选题建议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38200" y="1690688"/>
            <a:ext cx="10358775" cy="462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04788" indent="-204788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lang="en-US" altLang="zh-CN" sz="2800" kern="1200">
                <a:solidFill>
                  <a:schemeClr val="accent2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410766" indent="-204788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616744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822722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0" fontAlgn="base" hangingPunct="0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新型优化算法的实现与分析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对于图像分类等任务，给定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1~2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种网络架构，实现锐度感知最小化的优化算法（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SAM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）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并与经典优化算法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SGD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Adam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算法比较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对不同优化算法进行参数调优、分析比较各种优化算法的性能，给出合理、可靠结论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尝试对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SAM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优化算法进行改进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2AF2EB-2A92-9489-E086-30EE0E91515E}"/>
              </a:ext>
            </a:extLst>
          </p:cNvPr>
          <p:cNvSpPr txBox="1"/>
          <p:nvPr/>
        </p:nvSpPr>
        <p:spPr>
          <a:xfrm>
            <a:off x="1151416" y="5506477"/>
            <a:ext cx="10202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Pierre 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Foret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Ariel Kleiner, Hossein 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Mobahi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Behnam 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Neyshabur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Sharpness-Aware Minimization for Efficiently Improving Generalization. ICLR 2021. 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2D01F4-385D-A195-1E39-24B3A6691826}"/>
              </a:ext>
            </a:extLst>
          </p:cNvPr>
          <p:cNvSpPr txBox="1"/>
          <p:nvPr/>
        </p:nvSpPr>
        <p:spPr>
          <a:xfrm>
            <a:off x="3967543" y="5945550"/>
            <a:ext cx="3925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0" i="0" u="none" strike="noStrike" baseline="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https://github.com/google-research/sam</a:t>
            </a:r>
            <a:endParaRPr lang="en-US" altLang="zh-CN" sz="1800" b="0" i="0" u="none" strike="noStrike" baseline="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29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选题建议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38200" y="1690688"/>
            <a:ext cx="10358775" cy="462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04788" indent="-204788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lang="en-US" altLang="zh-CN" sz="2800" kern="1200">
                <a:solidFill>
                  <a:schemeClr val="accent2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410766" indent="-204788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616744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822722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0" fontAlgn="base" hangingPunct="0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卷积神经网络与</a:t>
            </a:r>
            <a:r>
              <a:rPr lang="en-US" altLang="zh-CN" dirty="0">
                <a:solidFill>
                  <a:schemeClr val="tx1"/>
                </a:solidFill>
              </a:rPr>
              <a:t>ViT</a:t>
            </a:r>
            <a:r>
              <a:rPr lang="zh-CN" altLang="en-US" dirty="0">
                <a:solidFill>
                  <a:schemeClr val="tx1"/>
                </a:solidFill>
              </a:rPr>
              <a:t>结合的探索与实现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对于图像分类等任务，尝试对卷积神经网络与视觉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Transformer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模块进行结合，并完成实现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对模型进行参数调优，给出合理、可靠结论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05978" lvl="1" indent="0">
              <a:buNone/>
            </a:pP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E4A179-31D7-DC87-FD8C-349D56BFDA9C}"/>
              </a:ext>
            </a:extLst>
          </p:cNvPr>
          <p:cNvSpPr txBox="1"/>
          <p:nvPr/>
        </p:nvSpPr>
        <p:spPr>
          <a:xfrm>
            <a:off x="1151416" y="5012813"/>
            <a:ext cx="10202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Sachin Mehta, Mohammad 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Rastegari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MobileViT: Light-weight, General-purpose, and Mobile-friendly Vision Transformer. ICLR 2022. 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E980E5C-1324-AD77-F00D-EB1814856A90}"/>
              </a:ext>
            </a:extLst>
          </p:cNvPr>
          <p:cNvSpPr txBox="1"/>
          <p:nvPr/>
        </p:nvSpPr>
        <p:spPr>
          <a:xfrm>
            <a:off x="4318514" y="5740791"/>
            <a:ext cx="33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https://github.com/apple/ml-cvnets</a:t>
            </a:r>
            <a:endParaRPr lang="en-US" altLang="zh-CN" sz="1800" b="0" i="0" u="none" strike="noStrike" baseline="0" dirty="0">
              <a:solidFill>
                <a:srgbClr val="00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76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选题建议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38200" y="1690688"/>
            <a:ext cx="10358775" cy="462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04788" indent="-204788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lang="en-US" altLang="zh-CN" sz="2800" kern="1200">
                <a:solidFill>
                  <a:schemeClr val="accent2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410766" indent="-204788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616744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822722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0" fontAlgn="base" hangingPunct="0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基于</a:t>
            </a:r>
            <a:r>
              <a:rPr lang="en-US" altLang="zh-CN" dirty="0">
                <a:solidFill>
                  <a:schemeClr val="tx1"/>
                </a:solidFill>
              </a:rPr>
              <a:t>StyleGAN</a:t>
            </a:r>
            <a:r>
              <a:rPr lang="zh-CN" altLang="en-US" dirty="0">
                <a:solidFill>
                  <a:schemeClr val="tx1"/>
                </a:solidFill>
              </a:rPr>
              <a:t>的图像生成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至少实现一种生成对抗网络（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Style GAN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等），完成图像生成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对生成对抗网络模型进行参数调优、分析影响图像生成质量的关键因素，给出合理、可靠结论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尝试对现有生成对抗网络模型进行改进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91287F-ED54-A792-65A6-92D0CCDFCF19}"/>
              </a:ext>
            </a:extLst>
          </p:cNvPr>
          <p:cNvSpPr txBox="1"/>
          <p:nvPr/>
        </p:nvSpPr>
        <p:spPr>
          <a:xfrm>
            <a:off x="1151416" y="5306076"/>
            <a:ext cx="10202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Tero Karras, Samuli Laine, Timo Aila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Style-Based Generator Architecture for Generative Adversarial Networks. CVPR 2019.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55C267-E9DD-C70C-42C5-F512B8EC790F}"/>
              </a:ext>
            </a:extLst>
          </p:cNvPr>
          <p:cNvSpPr txBox="1"/>
          <p:nvPr/>
        </p:nvSpPr>
        <p:spPr>
          <a:xfrm>
            <a:off x="3821688" y="5710319"/>
            <a:ext cx="3454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https://github.com/NVlabs/stylegan</a:t>
            </a:r>
            <a:endParaRPr lang="en-US" altLang="zh-C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542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选题建议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38200" y="1690688"/>
            <a:ext cx="10358775" cy="462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04788" indent="-204788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lang="en-US" altLang="zh-CN" sz="2800" kern="1200">
                <a:solidFill>
                  <a:schemeClr val="accent2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410766" indent="-204788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616744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822722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0" fontAlgn="base" hangingPunct="0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模型微调技术探索</a:t>
            </a:r>
          </a:p>
          <a:p>
            <a:pPr marL="205978" lvl="1" indent="0">
              <a:buClrTx/>
              <a:buNone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对于图像分类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自然语言处理等任务，利用预训练模型（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ImageNet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）在下游任务小数据微调模型，探索一些高效微调的方法（非全微调）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对比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种以上模型微调技术，给出合理、可靠结论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尝试对高效微调方法进行改进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05978" lvl="1" indent="0">
              <a:buNone/>
            </a:pP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C82BC1-6BF2-9726-4FF9-6E1C10E41113}"/>
              </a:ext>
            </a:extLst>
          </p:cNvPr>
          <p:cNvSpPr txBox="1"/>
          <p:nvPr/>
        </p:nvSpPr>
        <p:spPr>
          <a:xfrm>
            <a:off x="1964838" y="5351163"/>
            <a:ext cx="8402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Scaling &amp; Shifting Your Features: A New Baseline for Efficient Model Tuning.</a:t>
            </a:r>
            <a:r>
              <a:rPr lang="zh-CN" altLang="en-US" dirty="0"/>
              <a:t> 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NeruIPS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2022. 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3BB00B-F2B1-49E9-D99C-775EB208D89A}"/>
              </a:ext>
            </a:extLst>
          </p:cNvPr>
          <p:cNvSpPr txBox="1"/>
          <p:nvPr/>
        </p:nvSpPr>
        <p:spPr>
          <a:xfrm>
            <a:off x="3995592" y="5802245"/>
            <a:ext cx="3476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hlinkClick r:id="rId2"/>
              </a:rPr>
              <a:t>https://github.com/dongzelian/SSF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9761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C26AC-8556-4462-B63B-1A319BB4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选题建议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7437F0-1E32-469C-B2DE-CAB0A23D2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u="sng" dirty="0">
                <a:solidFill>
                  <a:srgbClr val="FF0000"/>
                </a:solidFill>
              </a:rPr>
              <a:t>自选课题</a:t>
            </a:r>
            <a:r>
              <a:rPr lang="zh-CN" altLang="en-US" dirty="0"/>
              <a:t>应用方向：包括但不限于图像、视频、自然语言处理、时序预测、视觉生成等人工智能相关应用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选题内容：</a:t>
            </a:r>
            <a:endParaRPr lang="en-US" altLang="zh-CN" dirty="0"/>
          </a:p>
          <a:p>
            <a:pPr lvl="1"/>
            <a:r>
              <a:rPr lang="zh-CN" altLang="en-US" dirty="0"/>
              <a:t>强烈建议选择与深度学习</a:t>
            </a:r>
            <a:r>
              <a:rPr lang="en-US" altLang="zh-CN" dirty="0"/>
              <a:t>/</a:t>
            </a:r>
            <a:r>
              <a:rPr lang="zh-CN" altLang="en-US" dirty="0"/>
              <a:t>大模型相关的前沿课题</a:t>
            </a:r>
            <a:endParaRPr lang="en-US" altLang="zh-CN" dirty="0"/>
          </a:p>
          <a:p>
            <a:pPr lvl="1"/>
            <a:r>
              <a:rPr lang="zh-CN" altLang="en-US" dirty="0"/>
              <a:t>可以选择与传统神经网络相关的课题</a:t>
            </a:r>
            <a:endParaRPr lang="en-US" altLang="zh-CN" dirty="0"/>
          </a:p>
          <a:p>
            <a:pPr lvl="1"/>
            <a:r>
              <a:rPr lang="zh-CN" altLang="en-US" dirty="0"/>
              <a:t>不建议选择与传统机器学习相关的课题</a:t>
            </a:r>
            <a:endParaRPr lang="en-US" altLang="zh-CN" dirty="0"/>
          </a:p>
          <a:p>
            <a:pPr lvl="1"/>
            <a:r>
              <a:rPr lang="zh-CN" altLang="en-US" dirty="0"/>
              <a:t>不能选择与课程内容无关的课题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9275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作业要求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840"/>
          <a:stretch/>
        </p:blipFill>
        <p:spPr>
          <a:xfrm>
            <a:off x="6650084" y="395264"/>
            <a:ext cx="4853185" cy="6005536"/>
          </a:xfrm>
          <a:prstGeom prst="rect">
            <a:avLst/>
          </a:prstGeom>
        </p:spPr>
      </p:pic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38200" y="1690688"/>
            <a:ext cx="10358775" cy="462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04788" indent="-204788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lang="en-US" altLang="zh-CN" sz="2800" kern="1200">
                <a:solidFill>
                  <a:schemeClr val="accent2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410766" indent="-204788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616744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822722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0" fontAlgn="base" hangingPunct="0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实验代码</a:t>
            </a:r>
            <a:endParaRPr lang="en-US" altLang="zh-CN" dirty="0">
              <a:solidFill>
                <a:schemeClr val="tx1"/>
              </a:solidFill>
            </a:endParaRPr>
          </a:p>
          <a:p>
            <a:pPr marL="205978" lvl="1" indent="0">
              <a:buClrTx/>
              <a:buNone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提交可复现代码（尽量简洁）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ReadMe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文档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05978" lvl="1" indent="0">
              <a:buClr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（实验环境、数据集下载、运行方式、实验结果）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上传</a:t>
            </a:r>
            <a:r>
              <a:rPr lang="en-US" altLang="zh-CN" dirty="0" err="1">
                <a:solidFill>
                  <a:schemeClr val="tx1"/>
                </a:solidFill>
                <a:latin typeface="+mn-ea"/>
                <a:ea typeface="+mn-ea"/>
              </a:rPr>
              <a:t>Github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等开源网站（建议）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17085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作业要求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38200" y="1690688"/>
            <a:ext cx="10358775" cy="462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04788" indent="-204788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lang="en-US" altLang="zh-CN" sz="2800" kern="1200">
                <a:solidFill>
                  <a:schemeClr val="accent2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410766" indent="-204788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616744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822722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0" fontAlgn="base" hangingPunct="0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课题报告（中英文均可）</a:t>
            </a:r>
          </a:p>
          <a:p>
            <a:pPr marL="205978" lvl="1" indent="0">
              <a:buClrTx/>
              <a:buNone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小论文形式（完整度）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摘要、引言、方法、结果、结论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05978" lvl="1" indent="0">
              <a:buClrTx/>
              <a:buNone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018" y="206130"/>
            <a:ext cx="5504355" cy="619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83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作业提交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31737" y="1771498"/>
            <a:ext cx="9419626" cy="448945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指定课题提供相应参考文献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p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指定课题任选一个或自选课题（满足要求）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p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智慧树提交课题报告与实验代码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p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截止日期：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号晚上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064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课程设计</a:t>
            </a:r>
            <a:r>
              <a:rPr lang="en-US" altLang="zh-CN" dirty="0"/>
              <a:t>-</a:t>
            </a:r>
            <a:r>
              <a:rPr lang="zh-CN" altLang="en-US" sz="4400" dirty="0"/>
              <a:t>成绩大致评判准则（百分比）</a:t>
            </a:r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38200" y="1690689"/>
            <a:ext cx="10358775" cy="462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04788" indent="-204788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lang="en-US" altLang="zh-CN" sz="2800" kern="1200">
                <a:solidFill>
                  <a:schemeClr val="accent2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410766" indent="-204788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616744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822722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0" fontAlgn="base" hangingPunct="0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0-59</a:t>
            </a:r>
            <a:r>
              <a:rPr lang="zh-CN" altLang="en-US" dirty="0">
                <a:solidFill>
                  <a:schemeClr val="tx1"/>
                </a:solidFill>
              </a:rPr>
              <a:t>分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不及格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：抄袭、选题与</a:t>
            </a:r>
            <a:r>
              <a:rPr lang="en-US" altLang="zh-CN" dirty="0">
                <a:solidFill>
                  <a:schemeClr val="tx1"/>
                </a:solidFill>
              </a:rPr>
              <a:t>《</a:t>
            </a:r>
            <a:r>
              <a:rPr lang="zh-CN" altLang="en-US" dirty="0">
                <a:solidFill>
                  <a:schemeClr val="tx1"/>
                </a:solidFill>
              </a:rPr>
              <a:t>神经网络与深度学习</a:t>
            </a:r>
            <a:r>
              <a:rPr lang="en-US" altLang="zh-CN" dirty="0">
                <a:solidFill>
                  <a:schemeClr val="tx1"/>
                </a:solidFill>
              </a:rPr>
              <a:t>》</a:t>
            </a:r>
            <a:r>
              <a:rPr lang="zh-CN" altLang="en-US" dirty="0">
                <a:solidFill>
                  <a:schemeClr val="tx1"/>
                </a:solidFill>
              </a:rPr>
              <a:t>无关、材料不完整（无代码、课题报告内容缺少严重）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60-77</a:t>
            </a:r>
            <a:r>
              <a:rPr lang="zh-CN" altLang="en-US" dirty="0">
                <a:solidFill>
                  <a:schemeClr val="tx1"/>
                </a:solidFill>
              </a:rPr>
              <a:t>分：选题比较合理、材料完整、内容不够详实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</a:rPr>
              <a:t> 78-89</a:t>
            </a:r>
            <a:r>
              <a:rPr lang="zh-CN" altLang="en-US" dirty="0">
                <a:solidFill>
                  <a:schemeClr val="tx1"/>
                </a:solidFill>
              </a:rPr>
              <a:t>分：选题合理、课题报告逻辑严谨、实验结果与分析比较详尽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</a:rPr>
              <a:t> 90</a:t>
            </a:r>
            <a:r>
              <a:rPr lang="zh-CN" altLang="en-US" dirty="0">
                <a:solidFill>
                  <a:schemeClr val="tx1"/>
                </a:solidFill>
              </a:rPr>
              <a:t>分及以上：选题合理、课题报告和实验内容详实、对方法或结果分析等具有自己的见解和想法</a:t>
            </a:r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95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8755</TotalTime>
  <Words>744</Words>
  <Application>Microsoft Macintosh PowerPoint</Application>
  <PresentationFormat>宽屏</PresentationFormat>
  <Paragraphs>111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主题</vt:lpstr>
      <vt:lpstr>《机器学习与深度学习》                     </vt:lpstr>
      <vt:lpstr>课程设计</vt:lpstr>
      <vt:lpstr>课程设计</vt:lpstr>
      <vt:lpstr>基本要求 </vt:lpstr>
      <vt:lpstr>选题建议</vt:lpstr>
      <vt:lpstr>选题建议</vt:lpstr>
      <vt:lpstr>选题建议</vt:lpstr>
      <vt:lpstr>选题建议</vt:lpstr>
      <vt:lpstr>选题建议</vt:lpstr>
      <vt:lpstr>选题建议</vt:lpstr>
      <vt:lpstr>作业要求</vt:lpstr>
      <vt:lpstr>作业要求</vt:lpstr>
      <vt:lpstr>作业提交</vt:lpstr>
      <vt:lpstr>课程设计-成绩大致评判准则（百分比）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感知机与前馈神经网络</dc:title>
  <dc:creator>王 旗龙</dc:creator>
  <cp:lastModifiedBy>Dongwei Ren</cp:lastModifiedBy>
  <cp:revision>450</cp:revision>
  <dcterms:created xsi:type="dcterms:W3CDTF">2020-09-20T00:35:06Z</dcterms:created>
  <dcterms:modified xsi:type="dcterms:W3CDTF">2026-06-02T10:38:55Z</dcterms:modified>
</cp:coreProperties>
</file>